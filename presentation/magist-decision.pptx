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ision" id="{17403d8c-1e2f-c53e-a9d0-bb6b80cfed66}">
          <p14:sldIdLst/>
        </p14:section>
        <p14:section name="Scale" id="{e9b8d1ff-cef0-bb4b-2e06-591b81b832e3}">
          <p14:sldIdLst>
            <p14:sldId id="257"/>
          </p14:sldIdLst>
        </p14:section>
        <p14:section name="Catalogue" id="{5595f4c7-57eb-59bb-8bef-abfff7345259}">
          <p14:sldIdLst>
            <p14:sldId id="258"/>
          </p14:sldIdLst>
        </p14:section>
        <p14:section name="Delivery" id="{936b670f-7ba2-6f1d-0afb-1ec5042e5195}">
          <p14:sldIdLst>
            <p14:sldId id="259"/>
          </p14:sldIdLst>
        </p14:section>
        <p14:section name="Risk" id="{3736ff3e-f541-27b3-2574-fda968abde85}">
          <p14:sldIdLst>
            <p14:sldId id="260"/>
          </p14:sldIdLst>
        </p14:section>
        <p14:section name="Recommendation" id="{fba69c92-fe0d-326d-0c6c-e55c1a519700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orders</c:v>
                </c:pt>
              </c:strCache>
            </c:strRef>
          </c:tx>
          <c:spPr>
            <a:solidFill>
              <a:srgbClr val="0B4F4A"/>
            </a:solidFill>
            <a:ln w="31750" cap="flat">
              <a:solidFill>
                <a:srgbClr val="0B4F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4F4A"/>
              </a:solidFill>
              <a:ln w="9525" cap="flat">
                <a:solidFill>
                  <a:srgbClr val="0B4F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 17</c:v>
                  </c:pt>
                  <c:pt idx="1">
                    <c:v/>
                  </c:pt>
                  <c:pt idx="2">
                    <c:v>Mar</c:v>
                  </c:pt>
                  <c:pt idx="3">
                    <c:v/>
                  </c:pt>
                  <c:pt idx="4">
                    <c:v>May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>Sep</c:v>
                  </c:pt>
                  <c:pt idx="9">
                    <c:v/>
                  </c:pt>
                  <c:pt idx="10">
                    <c:v>Nov</c:v>
                  </c:pt>
                  <c:pt idx="11">
                    <c:v/>
                  </c:pt>
                  <c:pt idx="12">
                    <c:v>Jan 18</c:v>
                  </c:pt>
                  <c:pt idx="13">
                    <c:v/>
                  </c:pt>
                  <c:pt idx="14">
                    <c:v>Mar</c:v>
                  </c:pt>
                  <c:pt idx="15">
                    <c:v/>
                  </c:pt>
                  <c:pt idx="16">
                    <c:v>May</c:v>
                  </c:pt>
                  <c:pt idx="17">
                    <c:v/>
                  </c:pt>
                  <c:pt idx="18">
                    <c:v>Jul</c:v>
                  </c:pt>
                  <c:pt idx="19">
                    <c:v>Aug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750</c:v>
                </c:pt>
                <c:pt idx="1">
                  <c:v>1653</c:v>
                </c:pt>
                <c:pt idx="2">
                  <c:v>2546</c:v>
                </c:pt>
                <c:pt idx="3">
                  <c:v>2303</c:v>
                </c:pt>
                <c:pt idx="4">
                  <c:v>3546</c:v>
                </c:pt>
                <c:pt idx="5">
                  <c:v>3135</c:v>
                </c:pt>
                <c:pt idx="6">
                  <c:v>3872</c:v>
                </c:pt>
                <c:pt idx="7">
                  <c:v>4193</c:v>
                </c:pt>
                <c:pt idx="8">
                  <c:v>4150</c:v>
                </c:pt>
                <c:pt idx="9">
                  <c:v>4478</c:v>
                </c:pt>
                <c:pt idx="10">
                  <c:v>7289</c:v>
                </c:pt>
                <c:pt idx="11">
                  <c:v>5513</c:v>
                </c:pt>
                <c:pt idx="12">
                  <c:v>7069</c:v>
                </c:pt>
                <c:pt idx="13">
                  <c:v>6555</c:v>
                </c:pt>
                <c:pt idx="14">
                  <c:v>7003</c:v>
                </c:pt>
                <c:pt idx="15">
                  <c:v>6798</c:v>
                </c:pt>
                <c:pt idx="16">
                  <c:v>6749</c:v>
                </c:pt>
                <c:pt idx="17">
                  <c:v>6099</c:v>
                </c:pt>
                <c:pt idx="18">
                  <c:v>6159</c:v>
                </c:pt>
                <c:pt idx="19">
                  <c:v>6351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items</c:v>
                </c:pt>
              </c:strCache>
            </c:strRef>
          </c:tx>
          <c:spPr>
            <a:solidFill>
              <a:srgbClr val="7FB7A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541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 R$50</c:v>
                  </c:pt>
                  <c:pt idx="1">
                    <c:v>R$50–199</c:v>
                  </c:pt>
                  <c:pt idx="2">
                    <c:v>R$200–999</c:v>
                  </c:pt>
                  <c:pt idx="3">
                    <c:v>≥ R$1,000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34.6</c:v>
                </c:pt>
                <c:pt idx="1">
                  <c:v>53.4</c:v>
                </c:pt>
                <c:pt idx="2">
                  <c:v>11.2</c:v>
                </c:pt>
                <c:pt idx="3">
                  <c:v>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7FB7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541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B7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B4F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17 Q1</c:v>
                  </c:pt>
                  <c:pt idx="1">
                    <c:v>17 Q2</c:v>
                  </c:pt>
                  <c:pt idx="2">
                    <c:v>17 Q3</c:v>
                  </c:pt>
                  <c:pt idx="3">
                    <c:v>17 Q4</c:v>
                  </c:pt>
                  <c:pt idx="4">
                    <c:v>18 Q1</c:v>
                  </c:pt>
                  <c:pt idx="5">
                    <c:v>18 Q2</c:v>
                  </c:pt>
                  <c:pt idx="6">
                    <c:v>18 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12.4</c:v>
                </c:pt>
                <c:pt idx="1">
                  <c:v>11.9</c:v>
                </c:pt>
                <c:pt idx="2">
                  <c:v>11.1</c:v>
                </c:pt>
                <c:pt idx="3">
                  <c:v>13.9</c:v>
                </c:pt>
                <c:pt idx="4">
                  <c:v>15.3</c:v>
                </c:pt>
                <c:pt idx="5">
                  <c:v>10.3</c:v>
                </c:pt>
                <c:pt idx="6">
                  <c:v>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review score</c:v>
                </c:pt>
              </c:strCache>
            </c:strRef>
          </c:tx>
          <c:spPr>
            <a:solidFill>
              <a:srgbClr val="0B4F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4F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541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Delivered on time</c:v>
                  </c:pt>
                  <c:pt idx="1">
                    <c:v>Delivered late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4.29</c:v>
                </c:pt>
                <c:pt idx="1">
                  <c:v>2.55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D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Eniac wants Brazil within a year and cannot build a supply chain that fast. Magist offers one. Two objections were raised; we took both to their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Whatever we decide, this is not a small player. Order volume grew eightfold in twenty months, then settled around 6,300 a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accessories fit perfectly — that band is exactly where this platform lives. Our flagship hardware has no precedent here: past the 99th percentile of everything Magist has ever 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two numbers together: reliability bought with a conservative quote, not with speed. The trend is the better news — 15.3 days in Q1 down to 7.9 by Q3.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One missed delivery date makes a one-or-two-star review five times more likely.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Sign, but reshaped. The data supports Magist as a market-entry vehicle and contradicts it as a three-year, full-catalogue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Ending on the open question is deliberate: it shows the analysis knows its own boundaries and hands the head of Eniac a concrete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7A3"/>
                </a:solidFill>
              </a:rPr>
              <a:t>Eniac · Data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72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B7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9184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2302B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2302B"/>
                </a:solidFill>
              </a:rPr>
              <a:t> 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D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72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B7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57276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Brazil: sign with Magist?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487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4F1"/>
                </a:solidFill>
              </a:rPr>
              <a:t>Two objections. 99,441 orders of their data. One recommendation.</a:t>
            </a:r>
            <a:endParaRPr lang="en-US" sz="1600" dirty="0"/>
          </a:p>
        </p:txBody>
      </p:sp>
      <p:sp>
        <p:nvSpPr>
          <p:cNvPr id="4" name="window-chip"/>
          <p:cNvSpPr/>
          <p:nvPr/>
        </p:nvSpPr>
        <p:spPr>
          <a:xfrm>
            <a:off x="502920" y="315468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0E6159"/>
          </a:solidFill>
          <a:ln w="12700">
            <a:solidFill>
              <a:srgbClr val="0E61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154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7A3"/>
                </a:solidFill>
              </a:rPr>
              <a:t>Sep 2016 – Aug 2018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72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B7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918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02B"/>
                </a:solidFill>
              </a:rPr>
              <a:t>Magist is worth taking seriously</a:t>
            </a:r>
            <a:endParaRPr lang="en-US" sz="3000" dirty="0"/>
          </a:p>
        </p:txBody>
      </p:sp>
      <p:sp>
        <p:nvSpPr>
          <p:cNvPr id="3" name="card-orders"/>
          <p:cNvSpPr/>
          <p:nvPr/>
        </p:nvSpPr>
        <p:spPr>
          <a:xfrm>
            <a:off x="502920" y="1097280"/>
            <a:ext cx="1865376" cy="868680"/>
          </a:xfrm>
          <a:prstGeom prst="roundRect">
            <a:avLst>
              <a:gd name="adj" fmla="val 8421"/>
            </a:avLst>
          </a:prstGeom>
          <a:solidFill>
            <a:srgbClr val="EDF4F1"/>
          </a:solidFill>
          <a:ln w="9525">
            <a:solidFill>
              <a:srgbClr val="DCE8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12648" y="12070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4A"/>
                </a:solidFill>
              </a:rPr>
              <a:t>99,441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D78"/>
                </a:solidFill>
              </a:rPr>
              <a:t>orders</a:t>
            </a:r>
            <a:endParaRPr lang="en-US" sz="1050" dirty="0"/>
          </a:p>
        </p:txBody>
      </p:sp>
      <p:sp>
        <p:nvSpPr>
          <p:cNvPr id="6" name="card-product revenue"/>
          <p:cNvSpPr/>
          <p:nvPr/>
        </p:nvSpPr>
        <p:spPr>
          <a:xfrm>
            <a:off x="2596896" y="1097280"/>
            <a:ext cx="1865376" cy="868680"/>
          </a:xfrm>
          <a:prstGeom prst="roundRect">
            <a:avLst>
              <a:gd name="adj" fmla="val 8421"/>
            </a:avLst>
          </a:prstGeom>
          <a:solidFill>
            <a:srgbClr val="EDF4F1"/>
          </a:solidFill>
          <a:ln w="9525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06624" y="12070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4A"/>
                </a:solidFill>
              </a:rPr>
              <a:t>R$ 13.6m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88336" y="16276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D78"/>
                </a:solidFill>
              </a:rPr>
              <a:t>product revenue</a:t>
            </a:r>
            <a:endParaRPr lang="en-US" sz="1050" dirty="0"/>
          </a:p>
        </p:txBody>
      </p:sp>
      <p:sp>
        <p:nvSpPr>
          <p:cNvPr id="9" name="card-active sellers"/>
          <p:cNvSpPr/>
          <p:nvPr/>
        </p:nvSpPr>
        <p:spPr>
          <a:xfrm>
            <a:off x="4690872" y="1097280"/>
            <a:ext cx="1865376" cy="868680"/>
          </a:xfrm>
          <a:prstGeom prst="roundRect">
            <a:avLst>
              <a:gd name="adj" fmla="val 8421"/>
            </a:avLst>
          </a:prstGeom>
          <a:solidFill>
            <a:srgbClr val="EDF4F1"/>
          </a:solidFill>
          <a:ln w="9525">
            <a:solidFill>
              <a:srgbClr val="DCE8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070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4A"/>
                </a:solidFill>
              </a:rPr>
              <a:t>3,095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16276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D78"/>
                </a:solidFill>
              </a:rPr>
              <a:t>active sellers</a:t>
            </a:r>
            <a:endParaRPr lang="en-US" sz="1050" dirty="0"/>
          </a:p>
        </p:txBody>
      </p:sp>
      <p:sp>
        <p:nvSpPr>
          <p:cNvPr id="12" name="card-growth in 20 months"/>
          <p:cNvSpPr/>
          <p:nvPr/>
        </p:nvSpPr>
        <p:spPr>
          <a:xfrm>
            <a:off x="6784848" y="1097280"/>
            <a:ext cx="1865376" cy="868680"/>
          </a:xfrm>
          <a:prstGeom prst="roundRect">
            <a:avLst>
              <a:gd name="adj" fmla="val 8421"/>
            </a:avLst>
          </a:prstGeom>
          <a:solidFill>
            <a:srgbClr val="EDF4F1"/>
          </a:solidFill>
          <a:ln w="9525">
            <a:solidFill>
              <a:srgbClr val="DCE8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94576" y="12070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4A"/>
                </a:solidFill>
              </a:rPr>
              <a:t>8×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16276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D78"/>
                </a:solidFill>
              </a:rPr>
              <a:t>growth in 20 months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2920" y="2240280"/>
          <a:ext cx="81381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D78"/>
                </a:solidFill>
              </a:rPr>
              <a:t>Monthly delivered orders. Growth is real but flattens through 2018 at roughly 6,300 a month.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D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918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02B"/>
                </a:solidFill>
              </a:rPr>
              <a:t>Right catalogue, wrong price class</a:t>
            </a:r>
            <a:endParaRPr lang="en-US" sz="3000" dirty="0"/>
          </a:p>
        </p:txBody>
      </p:sp>
      <p:sp>
        <p:nvSpPr>
          <p:cNvPr id="3" name="chip-TECH FITS"/>
          <p:cNvSpPr/>
          <p:nvPr/>
        </p:nvSpPr>
        <p:spPr>
          <a:xfrm>
            <a:off x="502920" y="10972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B4F4A"/>
          </a:solidFill>
          <a:ln w="12700">
            <a:solidFill>
              <a:srgbClr val="0B4F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TECH FITS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813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2B"/>
                </a:solidFill>
              </a:rPr>
              <a:t>computers_accessories is the 5th biggest category on the whole platform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2B"/>
                </a:solidFill>
              </a:rPr>
              <a:t>R$ 912k revenue, 7,827 items sold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2B"/>
                </a:solidFill>
              </a:rPr>
              <a:t>Tech overall: 15.3 % of items, 13.9 % of revenue</a:t>
            </a:r>
            <a:endParaRPr lang="en-US" sz="1300" dirty="0"/>
          </a:p>
        </p:txBody>
      </p:sp>
      <p:sp>
        <p:nvSpPr>
          <p:cNvPr id="6" name="chip-PRICE DOESN'T"/>
          <p:cNvSpPr/>
          <p:nvPr/>
        </p:nvSpPr>
        <p:spPr>
          <a:xfrm>
            <a:off x="502920" y="26974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C2541B"/>
          </a:solidFill>
          <a:ln w="12700">
            <a:solidFill>
              <a:srgbClr val="C254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697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PRICE DOESN'T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0815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2B"/>
                </a:solidFill>
              </a:rPr>
              <a:t>Median item sells for R$ 74.99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2B"/>
                </a:solidFill>
              </a:rPr>
              <a:t>99th percentile is R$ 890 — a 2018 iPhone cost R$ 3,500–5,000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2B"/>
                </a:solidFill>
              </a:rPr>
              <a:t>Only 202 of 3,095 sellers ever shipped an item over R$ 1,000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09160" y="118872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709160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D78"/>
                </a:solidFill>
              </a:rPr>
              <a:t>Share of all items sold, by price. Our product sits in the orange sliver.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D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918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02B"/>
                </a:solidFill>
              </a:rPr>
              <a:t>Deliveries are adequate, not fast</a:t>
            </a:r>
            <a:endParaRPr lang="en-US" sz="3000" dirty="0"/>
          </a:p>
        </p:txBody>
      </p:sp>
      <p:sp>
        <p:nvSpPr>
          <p:cNvPr id="3" name="card-headline"/>
          <p:cNvSpPr/>
          <p:nvPr/>
        </p:nvSpPr>
        <p:spPr>
          <a:xfrm>
            <a:off x="502920" y="11430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EDF4F1"/>
          </a:solidFill>
          <a:ln w="9525">
            <a:solidFill>
              <a:srgbClr val="DCE8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4A"/>
                </a:solidFill>
              </a:rPr>
              <a:t>12.1 days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D78"/>
                </a:solidFill>
              </a:rPr>
              <a:t>average delivery — against a promised window of 23.4 days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2302B"/>
                </a:solidFill>
              </a:rPr>
              <a:t>They hit the promise 92 % of the time — by promising three weeks.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2302B"/>
                </a:solidFill>
              </a:rPr>
              <a:t>São Paulo, 42 % of all orders: 8.3 days. The northern states: 20–24.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977640" y="1143000"/>
          <a:ext cx="4663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977640" y="3931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D78"/>
                </a:solidFill>
              </a:rPr>
              <a:t>Average days to delivery by quarter. The 2018-Q1 peak is peak-season strain; it halved within two quarters.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D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2918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02B"/>
                </a:solidFill>
              </a:rPr>
              <a:t>One missed date undoes our promise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234440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D78"/>
                </a:solidFill>
              </a:rPr>
              <a:t>Average review score, 95,489 delivered orders</a:t>
            </a:r>
            <a:endParaRPr lang="en-US" sz="1050" dirty="0"/>
          </a:p>
        </p:txBody>
      </p:sp>
      <p:sp>
        <p:nvSpPr>
          <p:cNvPr id="5" name="card-of late orders get a 1–2 star review"/>
          <p:cNvSpPr/>
          <p:nvPr/>
        </p:nvSpPr>
        <p:spPr>
          <a:xfrm>
            <a:off x="5349240" y="13258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BEFE8"/>
          </a:solidFill>
          <a:ln w="9525">
            <a:solidFill>
              <a:srgbClr val="F0D6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58968" y="143560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541B"/>
                </a:solidFill>
              </a:rPr>
              <a:t>54.6 %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1856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D78"/>
                </a:solidFill>
              </a:rPr>
              <a:t>of late orders get a 1–2 star review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2560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2302B"/>
                </a:solidFill>
              </a:rPr>
              <a:t>On time, only 9.4 % do.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2302B"/>
                </a:solidFill>
              </a:rPr>
              <a:t>Eniac's differentiator is the human relationship with the customer. This is where a logistics decision becomes a brand decision.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D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Sign — but not this deal</a:t>
            </a:r>
            <a:endParaRPr lang="en-US" sz="3200" dirty="0"/>
          </a:p>
        </p:txBody>
      </p:sp>
      <p:sp>
        <p:nvSpPr>
          <p:cNvPr id="3" name="rec-1"/>
          <p:cNvSpPr/>
          <p:nvPr/>
        </p:nvSpPr>
        <p:spPr>
          <a:xfrm>
            <a:off x="502920" y="1325880"/>
            <a:ext cx="2532888" cy="2514600"/>
          </a:xfrm>
          <a:prstGeom prst="roundRect">
            <a:avLst>
              <a:gd name="adj" fmla="val 2909"/>
            </a:avLst>
          </a:prstGeom>
          <a:solidFill>
            <a:srgbClr val="0E6159"/>
          </a:solidFill>
          <a:ln w="9525">
            <a:solidFill>
              <a:srgbClr val="16716A"/>
            </a:solidFill>
            <a:prstDash val="solid"/>
          </a:ln>
        </p:spPr>
      </p:sp>
      <p:sp>
        <p:nvSpPr>
          <p:cNvPr id="4" name="recnum-1"/>
          <p:cNvSpPr/>
          <p:nvPr/>
        </p:nvSpPr>
        <p:spPr>
          <a:xfrm>
            <a:off x="704088" y="1536192"/>
            <a:ext cx="384048" cy="384048"/>
          </a:xfrm>
          <a:prstGeom prst="ellipse">
            <a:avLst/>
          </a:prstGeom>
          <a:solidFill>
            <a:srgbClr val="7FB7A3"/>
          </a:solidFill>
          <a:ln w="12700">
            <a:solidFill>
              <a:srgbClr val="7FB7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4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9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Accessories first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63347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4F1"/>
                </a:solidFill>
              </a:rPr>
              <a:t>They sit in the R$75–230 band Magist already owns. Flagship hardware has no precedent on the platform.</a:t>
            </a:r>
            <a:endParaRPr lang="en-US" sz="1150" dirty="0"/>
          </a:p>
        </p:txBody>
      </p:sp>
      <p:sp>
        <p:nvSpPr>
          <p:cNvPr id="8" name="rec-2"/>
          <p:cNvSpPr/>
          <p:nvPr/>
        </p:nvSpPr>
        <p:spPr>
          <a:xfrm>
            <a:off x="3264408" y="1325880"/>
            <a:ext cx="2532888" cy="2514600"/>
          </a:xfrm>
          <a:prstGeom prst="roundRect">
            <a:avLst>
              <a:gd name="adj" fmla="val 2909"/>
            </a:avLst>
          </a:prstGeom>
          <a:solidFill>
            <a:srgbClr val="0E6159"/>
          </a:solidFill>
          <a:ln w="9525">
            <a:solidFill>
              <a:srgbClr val="16716A"/>
            </a:solidFill>
            <a:prstDash val="solid"/>
          </a:ln>
        </p:spPr>
      </p:sp>
      <p:sp>
        <p:nvSpPr>
          <p:cNvPr id="9" name="recnum-2"/>
          <p:cNvSpPr/>
          <p:nvPr/>
        </p:nvSpPr>
        <p:spPr>
          <a:xfrm>
            <a:off x="3465576" y="1536192"/>
            <a:ext cx="384048" cy="384048"/>
          </a:xfrm>
          <a:prstGeom prst="ellipse">
            <a:avLst/>
          </a:prstGeom>
          <a:solidFill>
            <a:srgbClr val="7FB7A3"/>
          </a:solidFill>
          <a:ln w="12700">
            <a:solidFill>
              <a:srgbClr val="7FB7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6557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4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029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12–18 months, not three years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263347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4F1"/>
                </a:solidFill>
              </a:rPr>
              <a:t>The three-year price was set against 2018-Q1 — the worst quarter in the data. Add a delivery SLA.</a:t>
            </a:r>
            <a:endParaRPr lang="en-US" sz="1150" dirty="0"/>
          </a:p>
        </p:txBody>
      </p:sp>
      <p:sp>
        <p:nvSpPr>
          <p:cNvPr id="13" name="rec-3"/>
          <p:cNvSpPr/>
          <p:nvPr/>
        </p:nvSpPr>
        <p:spPr>
          <a:xfrm>
            <a:off x="6025896" y="1325880"/>
            <a:ext cx="2532888" cy="2514600"/>
          </a:xfrm>
          <a:prstGeom prst="roundRect">
            <a:avLst>
              <a:gd name="adj" fmla="val 2909"/>
            </a:avLst>
          </a:prstGeom>
          <a:solidFill>
            <a:srgbClr val="0E6159"/>
          </a:solidFill>
          <a:ln w="9525">
            <a:solidFill>
              <a:srgbClr val="16716A"/>
            </a:solidFill>
            <a:prstDash val="solid"/>
          </a:ln>
        </p:spPr>
      </p:sp>
      <p:sp>
        <p:nvSpPr>
          <p:cNvPr id="14" name="recnum-3"/>
          <p:cNvSpPr/>
          <p:nvPr/>
        </p:nvSpPr>
        <p:spPr>
          <a:xfrm>
            <a:off x="6227064" y="1536192"/>
            <a:ext cx="384048" cy="384048"/>
          </a:xfrm>
          <a:prstGeom prst="ellipse">
            <a:avLst/>
          </a:prstGeom>
          <a:solidFill>
            <a:srgbClr val="7FB7A3"/>
          </a:solidFill>
          <a:ln w="12700">
            <a:solidFill>
              <a:srgbClr val="7FB7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70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4A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27064" y="2029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São Paulo and the Southeast first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263347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4F1"/>
                </a:solidFill>
              </a:rPr>
              <a:t>8.3 days there against 23.8 in the North. Do not sell one promise into both.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72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B7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430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still have to ask Magist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470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FB7A3"/>
                </a:solidFill>
              </a:rPr>
              <a:t>This data shows what Magist's sellers do — not what Magist can do for us.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48716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DF4F1"/>
                </a:solidFill>
              </a:rPr>
              <a:t>Delivery performance on parcels above R$ 1,000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DF4F1"/>
                </a:solidFill>
              </a:rPr>
              <a:t>Insurance and returns terms for high-value electronics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DF4F1"/>
                </a:solidFill>
              </a:rPr>
              <a:t>Whether sellers above that price band exist and simply don't sell volume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It is the one question the data cannot answer — and it is the one the deal turns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572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B7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gist Decision">
  <a:themeElements>
    <a:clrScheme name="Magist Decision">
      <a:dk1>
        <a:srgbClr val="12302B"/>
      </a:dk1>
      <a:lt1>
        <a:srgbClr val="FFFFFF"/>
      </a:lt1>
      <a:dk2>
        <a:srgbClr val="0B4F4A"/>
      </a:dk2>
      <a:lt2>
        <a:srgbClr val="EDF4F1"/>
      </a:lt2>
      <a:accent1>
        <a:srgbClr val="0B4F4A"/>
      </a:accent1>
      <a:accent2>
        <a:srgbClr val="C2541B"/>
      </a:accent2>
      <a:accent3>
        <a:srgbClr val="7FB7A3"/>
      </a:accent3>
      <a:accent4>
        <a:srgbClr val="D9A441"/>
      </a:accent4>
      <a:accent5>
        <a:srgbClr val="5A7D78"/>
      </a:accent5>
      <a:accent6>
        <a:srgbClr val="9AA7A4"/>
      </a:accent6>
      <a:hlink>
        <a:srgbClr val="0B5351"/>
      </a:hlink>
      <a:folHlink>
        <a:srgbClr val="5A7D78"/>
      </a:folHlink>
    </a:clrScheme>
    <a:fontScheme name="Magist Dec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 market entry — the Magist decision</dc:title>
  <dc:subject>PptxGenJS Presentation</dc:subject>
  <dc:creator>Eniac Data Analytics</dc:creator>
  <cp:lastModifiedBy>Eniac Data Analytics</cp:lastModifiedBy>
  <cp:revision>1</cp:revision>
  <dcterms:created xsi:type="dcterms:W3CDTF">2026-10-07T08:40:19Z</dcterms:created>
  <dcterms:modified xsi:type="dcterms:W3CDTF">2026-10-07T08:40:19Z</dcterms:modified>
</cp:coreProperties>
</file>